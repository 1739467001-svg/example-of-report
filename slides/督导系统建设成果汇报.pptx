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14400" y="1554480"/>
            <a:ext cx="566928" cy="566928"/>
          </a:xfrm>
          <a:prstGeom prst="roundRect">
            <a:avLst>
              <a:gd name="adj" fmla="val 22000"/>
            </a:avLst>
          </a:prstGeom>
          <a:noFill/>
          <a:ln w="17780">
            <a:solidFill>
              <a:srgbClr val="7FB2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7FB2FF"/>
                </a:solidFill>
                <a:latin typeface="Microsoft YaHei"/>
                <a:ea typeface="Microsoft YaHei"/>
                <a:cs typeface="Microsoft YaHei"/>
              </a:rPr>
              <a:t>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591056"/>
            <a:ext cx="6400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EAF2FF"/>
                </a:solidFill>
                <a:latin typeface="Microsoft YaHei"/>
                <a:ea typeface="Microsoft YaHei"/>
                <a:cs typeface="Microsoft YaHei"/>
              </a:rPr>
              <a:t>浙江工商大学 · 研究生院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36776" y="197510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7E9BCE"/>
                </a:solidFill>
                <a:latin typeface="Microsoft YaHei"/>
                <a:ea typeface="Microsoft YaHei"/>
                <a:cs typeface="Microsoft YaHei"/>
              </a:rPr>
              <a:t>ZHEJIANG GONGSHANG UNIVERSITY · GRADUATE SCHOOL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0604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研究生院督导系统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7FB2FF"/>
                </a:solidFill>
                <a:latin typeface="Microsoft YaHei"/>
                <a:ea typeface="Microsoft YaHei"/>
                <a:cs typeface="Microsoft YaHei"/>
              </a:rPr>
              <a:t>建设成果汇报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4389120"/>
            <a:ext cx="914400" cy="73152"/>
          </a:xfrm>
          <a:prstGeom prst="roundRect">
            <a:avLst>
              <a:gd name="adj" fmla="val 50000"/>
            </a:avLst>
          </a:prstGeom>
          <a:solidFill>
            <a:srgbClr val="E8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DBE7FB"/>
                </a:solidFill>
                <a:latin typeface="Microsoft YaHei"/>
                <a:ea typeface="Microsoft YaHei"/>
                <a:cs typeface="Microsoft YaHei"/>
              </a:rPr>
              <a:t>基于全校真实课表数据的研究生教学督导一体化平台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074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FB0E6"/>
                </a:solidFill>
                <a:latin typeface="Microsoft YaHei"/>
                <a:ea typeface="Microsoft YaHei"/>
                <a:cs typeface="Microsoft YaHei"/>
              </a:rPr>
              <a:t>数据驱动 · 流程闭环 · 多角色协同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356616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35661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汇报内容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CONTENTS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828800"/>
            <a:ext cx="53492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947672"/>
            <a:ext cx="822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DD9EE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18488" y="2075688"/>
            <a:ext cx="420624" cy="420624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18488" y="205740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12848" y="1993392"/>
            <a:ext cx="356615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项目背景与目标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2359152"/>
            <a:ext cx="356615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痛点与建设愿景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81928" y="1828800"/>
            <a:ext cx="53492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3096" y="1947672"/>
            <a:ext cx="822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DD9EE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2075688"/>
            <a:ext cx="420624" cy="420624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33488" y="205740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7848" y="1993392"/>
            <a:ext cx="356615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系统概览 · 数据底座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7848" y="2359152"/>
            <a:ext cx="356615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真实数据一比一还原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2889504"/>
            <a:ext cx="53492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3008376"/>
            <a:ext cx="822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DD9EE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618488" y="3136392"/>
            <a:ext cx="420624" cy="420624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18488" y="311810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12848" y="3054096"/>
            <a:ext cx="356615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四类角色 · 权限体系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12848" y="3419856"/>
            <a:ext cx="356615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权限层层递进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81928" y="2889504"/>
            <a:ext cx="53492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3096" y="3008376"/>
            <a:ext cx="822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DD9EE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33488" y="3136392"/>
            <a:ext cx="420624" cy="420624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33488" y="311810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27848" y="3054096"/>
            <a:ext cx="356615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六大核心功能详解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27848" y="3419856"/>
            <a:ext cx="356615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逐项展开核心能力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3950208"/>
            <a:ext cx="53492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4069080"/>
            <a:ext cx="822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DD9EE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618488" y="4197096"/>
            <a:ext cx="420624" cy="420624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18488" y="417880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12848" y="4114800"/>
            <a:ext cx="356615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业务闭环与系统架构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12848" y="4480560"/>
            <a:ext cx="356615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看得见、管得住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81928" y="3950208"/>
            <a:ext cx="53492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83096" y="4069080"/>
            <a:ext cx="822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DD9EE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333488" y="4197096"/>
            <a:ext cx="420624" cy="420624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33488" y="417880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▣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27848" y="4114800"/>
            <a:ext cx="356615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成果 · 价值 · 规划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27848" y="4480560"/>
            <a:ext cx="356615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小结与展望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6928" y="5010912"/>
            <a:ext cx="53492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68096" y="5129783"/>
            <a:ext cx="822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CDD9EE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618488" y="5257800"/>
            <a:ext cx="420624" cy="420624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18488" y="5239512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▣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12848" y="5175503"/>
            <a:ext cx="356615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答辩 Q&amp;A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12848" y="5541264"/>
            <a:ext cx="356615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常见问题预演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2 / 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973836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7383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 项目背景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为什么要建这个系统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传统研究生教学督导面临四大痛点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48840"/>
            <a:ext cx="320040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148840"/>
            <a:ext cx="91440" cy="1417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331720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找课难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770632"/>
            <a:ext cx="2697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课程分散在多学院、两校区，含单双周，难快速定位目标课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41648" y="2148840"/>
            <a:ext cx="320040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41648" y="2148840"/>
            <a:ext cx="91440" cy="1417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4256" y="2331720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评价散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6" y="2770632"/>
            <a:ext cx="2697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依赖纸质评价表，填写、收集、归档环节多，结果难沉淀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822191"/>
            <a:ext cx="320040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822191"/>
            <a:ext cx="91440" cy="1417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4005072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统计弱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4443983"/>
            <a:ext cx="2697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评价数据散落纸面，学院与研究生院缺乏全局视图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41648" y="3822191"/>
            <a:ext cx="320040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41648" y="3822191"/>
            <a:ext cx="91440" cy="1417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34256" y="4005072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反馈慢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34256" y="4443983"/>
            <a:ext cx="2697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评价结果传递链路长，难成质量改进闭环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43800" y="2148840"/>
            <a:ext cx="4069080" cy="3346704"/>
          </a:xfrm>
          <a:prstGeom prst="roundRect">
            <a:avLst>
              <a:gd name="adj" fmla="val 6000"/>
            </a:avLst>
          </a:prstGeom>
          <a:solidFill>
            <a:srgbClr val="0E2A56"/>
          </a:solidFill>
          <a:ln>
            <a:noFill/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09560" y="246888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E8A23D"/>
                </a:solidFill>
                <a:latin typeface="Microsoft YaHei"/>
                <a:ea typeface="Microsoft YaHei"/>
                <a:cs typeface="Microsoft YaHei"/>
              </a:rPr>
              <a:t>建设目标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09560" y="3063240"/>
            <a:ext cx="34290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E8F0FF"/>
                </a:solidFill>
                <a:latin typeface="Microsoft YaHei"/>
                <a:ea typeface="Microsoft YaHei"/>
                <a:cs typeface="Microsoft YaHei"/>
              </a:rPr>
              <a:t>打造一个 </a:t>
            </a: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数据驱动 · 流程闭环 · 多角色协同</a:t>
            </a:r>
            <a:r>
              <a:rPr sz="1500" b="0">
                <a:solidFill>
                  <a:srgbClr val="E8F0FF"/>
                </a:solidFill>
                <a:latin typeface="Microsoft YaHei"/>
                <a:ea typeface="Microsoft YaHei"/>
                <a:cs typeface="Microsoft YaHei"/>
              </a:rPr>
              <a:t> 的研究生教学督导一体化平台，把“全校总课表”变成 </a:t>
            </a: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可检索、可督导、可评价、可统计</a:t>
            </a:r>
            <a:r>
              <a:rPr sz="1500" b="0">
                <a:solidFill>
                  <a:srgbClr val="E8F0FF"/>
                </a:solidFill>
                <a:latin typeface="Microsoft YaHei"/>
                <a:ea typeface="Microsoft YaHei"/>
                <a:cs typeface="Microsoft YaHei"/>
              </a:rPr>
              <a:t> 的在线平台。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3 / 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973836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7383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 系统概览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一个面向真实业务的督导平台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课程、教师、学院、校区、排课规则全部来源于学校真实数据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03120"/>
            <a:ext cx="11064240" cy="868680"/>
          </a:xfrm>
          <a:prstGeom prst="roundRect">
            <a:avLst>
              <a:gd name="adj" fmla="val 10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103120"/>
            <a:ext cx="91440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3315F"/>
                </a:solidFill>
                <a:latin typeface="Microsoft YaHei"/>
                <a:ea typeface="Microsoft YaHei"/>
                <a:cs typeface="Microsoft YaHei"/>
              </a:rPr>
              <a:t>系统完全以学校《全校总课表》《角色信息表》《课程评价表》搭建，</a:t>
            </a:r>
            <a:r>
              <a:rPr sz="15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所见即真实业务</a:t>
            </a:r>
            <a:r>
              <a:rPr sz="1500" b="0">
                <a:solidFill>
                  <a:srgbClr val="13315F"/>
                </a:solidFill>
                <a:latin typeface="Microsoft YaHei"/>
                <a:ea typeface="Microsoft YaHei"/>
                <a:cs typeface="Microsoft YaHei"/>
              </a:rPr>
              <a:t>，开箱即用。</a:t>
            </a:r>
          </a:p>
        </p:txBody>
      </p:sp>
      <p:pic>
        <p:nvPicPr>
          <p:cNvPr id="11" name="Picture 10" descr="data-foun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602736"/>
            <a:ext cx="11064240" cy="22128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4 / 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0972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 角色与权限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四类角色 · 权限层层递进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数据隔离 · 只读保护 · 逐级汇总，贴合研究生院真实管理结构</a:t>
            </a:r>
          </a:p>
        </p:txBody>
      </p:sp>
      <p:pic>
        <p:nvPicPr>
          <p:cNvPr id="8" name="Picture 7" descr="role-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444791"/>
            <a:ext cx="10908792" cy="347717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5 / 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973836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7383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 核心功能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六大核心功能模块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覆盖督导工作全流程，下面逐项展开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48840"/>
            <a:ext cx="3529584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2404872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3865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3081528"/>
            <a:ext cx="30266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全校课程多维筛选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3447288"/>
            <a:ext cx="30266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按周次/星期/学院/校区/教师组合筛选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2148840"/>
            <a:ext cx="3529584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17720" y="2404872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23865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4A90E2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081528"/>
            <a:ext cx="30266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听课计划管理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3447288"/>
            <a:ext cx="30266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待办 + 日历视图，课前自动提醒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19871" y="2148840"/>
            <a:ext cx="3529584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394192" y="2404872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94192" y="23865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E9F8E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3081528"/>
            <a:ext cx="30266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标准化课程评价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94192" y="3447288"/>
            <a:ext cx="30266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20 项定量 + 定性，支持草稿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206240"/>
            <a:ext cx="3529584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1247" y="4462272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7" y="4443983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2BA873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7" y="5138927"/>
            <a:ext cx="30266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数据看板与统计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7" y="5504688"/>
            <a:ext cx="30266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关键指标总览，图形化展示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206240"/>
            <a:ext cx="3529584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617720" y="4462272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17720" y="4443983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8A23D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20" y="5138927"/>
            <a:ext cx="30266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消息通知与提醒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720" y="5504688"/>
            <a:ext cx="30266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评价提交后自动通知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19871" y="4206240"/>
            <a:ext cx="3529584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394192" y="4462272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94192" y="4443983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FA2B8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94192" y="5138927"/>
            <a:ext cx="30266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工号登录与用户管理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94192" y="5504688"/>
            <a:ext cx="30266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工号唯一凭证，角色权限控制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6 / 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714500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7145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 核心功能 · 功能①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全校课程多维筛选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按多维度精确定位目标课程，与原始课表完全一致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395727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95144"/>
            <a:ext cx="4297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F2A44"/>
                </a:solidFill>
                <a:latin typeface="Microsoft YaHei"/>
                <a:ea typeface="Microsoft YaHei"/>
                <a:cs typeface="Microsoft YaHei"/>
              </a:rPr>
              <a:t>全校 1,344 门课程在线检索，告别翻纸质课表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108960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008376"/>
            <a:ext cx="4297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F2A44"/>
                </a:solidFill>
                <a:latin typeface="Microsoft YaHei"/>
                <a:ea typeface="Microsoft YaHei"/>
                <a:cs typeface="Microsoft YaHei"/>
              </a:rPr>
              <a:t>支持 周次 / 星期 / 学院 / 校区 / 教师 多维组合筛选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822192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721608"/>
            <a:ext cx="4297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F2A44"/>
                </a:solidFill>
                <a:latin typeface="Microsoft YaHei"/>
                <a:ea typeface="Microsoft YaHei"/>
                <a:cs typeface="Microsoft YaHei"/>
              </a:rPr>
              <a:t>筛选逻辑与原课表一致（如“会计学院 + 第 3 周”精确联动）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535424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434840"/>
            <a:ext cx="4297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F2A44"/>
                </a:solidFill>
                <a:latin typeface="Microsoft YaHei"/>
                <a:ea typeface="Microsoft YaHei"/>
                <a:cs typeface="Microsoft YaHei"/>
              </a:rPr>
              <a:t>督导专家可快速锁定“本周哪天、哪个学院、哪位老师”有课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77840" y="2286000"/>
            <a:ext cx="6035040" cy="3566160"/>
          </a:xfrm>
          <a:prstGeom prst="roundRect">
            <a:avLst>
              <a:gd name="adj" fmla="val 5000"/>
            </a:avLst>
          </a:prstGeom>
          <a:solidFill>
            <a:srgbClr val="F6F9FF"/>
          </a:solidFill>
          <a:ln w="20320">
            <a:solidFill>
              <a:srgbClr val="B9CB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77840" y="356616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B9CBE6"/>
                </a:solidFill>
                <a:latin typeface="Microsoft YaHei"/>
                <a:ea typeface="Microsoft YaHei"/>
                <a:cs typeface="Microsoft YaHei"/>
              </a:rPr>
              <a:t>［ 图 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7840" y="406908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建议替换为真实截图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448056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7E93B5"/>
                </a:solidFill>
                <a:latin typeface="Microsoft YaHei"/>
                <a:ea typeface="Microsoft YaHei"/>
                <a:cs typeface="Microsoft YaHei"/>
              </a:rPr>
              <a:t>全校课程 · 筛选页面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7 / 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714500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7145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 核心功能 · 功能②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听课计划 · 待办与日历视图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把有意向的课程一键纳入计划，按周直观安排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395727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95144"/>
            <a:ext cx="4297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F2A44"/>
                </a:solidFill>
                <a:latin typeface="Microsoft YaHei"/>
                <a:ea typeface="Microsoft YaHei"/>
                <a:cs typeface="Microsoft YaHei"/>
              </a:rPr>
              <a:t>一键将课程加入听课计划（类似待办清单）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108960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008376"/>
            <a:ext cx="4297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F2A44"/>
                </a:solidFill>
                <a:latin typeface="Microsoft YaHei"/>
                <a:ea typeface="Microsoft YaHei"/>
                <a:cs typeface="Microsoft YaHei"/>
              </a:rPr>
              <a:t>日历视图：以“节次 × 星期”网格展示当周安排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822192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721608"/>
            <a:ext cx="4297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F2A44"/>
                </a:solidFill>
                <a:latin typeface="Microsoft YaHei"/>
                <a:ea typeface="Microsoft YaHei"/>
                <a:cs typeface="Microsoft YaHei"/>
              </a:rPr>
              <a:t>待听课 / 已评价 / 已取消 三种状态不同颜色区分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535424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434840"/>
            <a:ext cx="4297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F2A44"/>
                </a:solidFill>
                <a:latin typeface="Microsoft YaHei"/>
                <a:ea typeface="Microsoft YaHei"/>
                <a:cs typeface="Microsoft YaHei"/>
              </a:rPr>
              <a:t>课前自动站内提醒，避免漏听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77840" y="2286000"/>
            <a:ext cx="6035040" cy="3566160"/>
          </a:xfrm>
          <a:prstGeom prst="roundRect">
            <a:avLst>
              <a:gd name="adj" fmla="val 5000"/>
            </a:avLst>
          </a:prstGeom>
          <a:solidFill>
            <a:srgbClr val="F6F9FF"/>
          </a:solidFill>
          <a:ln w="20320">
            <a:solidFill>
              <a:srgbClr val="B9CB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77840" y="356616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B9CBE6"/>
                </a:solidFill>
                <a:latin typeface="Microsoft YaHei"/>
                <a:ea typeface="Microsoft YaHei"/>
                <a:cs typeface="Microsoft YaHei"/>
              </a:rPr>
              <a:t>［ 图 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7840" y="406908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建议替换为真实截图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448056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7E93B5"/>
                </a:solidFill>
                <a:latin typeface="Microsoft YaHei"/>
                <a:ea typeface="Microsoft YaHei"/>
                <a:cs typeface="Microsoft YaHei"/>
              </a:rPr>
              <a:t>听课计划 · 日历视图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8 / 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714500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7145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 核心功能 · 功能③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标准化课程评价体系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完全复刻学校现行《课程评价表》：20 项定量 + 定性，系统自动计算综合评分</a:t>
            </a:r>
          </a:p>
        </p:txBody>
      </p:sp>
      <p:pic>
        <p:nvPicPr>
          <p:cNvPr id="8" name="Picture 7" descr="eval-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588" y="2103120"/>
            <a:ext cx="10065774" cy="4160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9 / 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714500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7145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 核心功能 · 功能③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评价记录与界面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评价详情清晰呈现各维度得分、综合评分与星级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94560"/>
            <a:ext cx="7315200" cy="3566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val-reco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1228" y="2331720"/>
            <a:ext cx="6046599" cy="3108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55321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课程评价记录详情页（真实界面）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3879" y="2194560"/>
            <a:ext cx="3429000" cy="3566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eval-form-it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3553637"/>
            <a:ext cx="3063240" cy="66512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83879" y="5532120"/>
            <a:ext cx="3429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标准化评价表项（分级评分）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10 / 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714500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7145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 核心功能 · 功能④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研究生院主管工作台 · 数据可视化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关键指标一屏总览，评价结果多维度图形化呈现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94560"/>
            <a:ext cx="7040880" cy="3611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490" y="2331720"/>
            <a:ext cx="5959755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5577840"/>
            <a:ext cx="7040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研究生院主管数据看板（真实界面）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2194560"/>
            <a:ext cx="3749039" cy="3611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-eval-rad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6195" y="2331720"/>
            <a:ext cx="2984328" cy="3200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863840" y="5577840"/>
            <a:ext cx="37490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课程评价多维度可视化（示例）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11 / 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714500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7145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 核心功能 · 功能④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学院评价统计分析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按学院展示督导评价次数与评分分布，支撑质量决策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48840"/>
            <a:ext cx="6126480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colle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297" y="2286000"/>
            <a:ext cx="5141741" cy="310896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903720" y="2148840"/>
            <a:ext cx="4709160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hart-scored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4881" y="2286000"/>
            <a:ext cx="3706836" cy="3108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6928" y="566928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7E93B5"/>
                </a:solidFill>
                <a:latin typeface="Microsoft YaHei"/>
                <a:ea typeface="Microsoft YaHei"/>
                <a:cs typeface="Microsoft YaHei"/>
              </a:rPr>
              <a:t>※ 上图为示例数据，接入真实评价数据后由系统自动生成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12 / 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714500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7145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 核心功能 · 功能⑤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消息通知与提醒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打通“评价完成 → 学院/研究生院知晓”的反馈链路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441448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340864"/>
            <a:ext cx="429768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F2A44"/>
                </a:solidFill>
                <a:latin typeface="Microsoft YaHei"/>
                <a:ea typeface="Microsoft YaHei"/>
                <a:cs typeface="Microsoft YaHei"/>
              </a:rPr>
              <a:t>评价提交后自动通知研究生院主管与对应学院教学秘书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191256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090672"/>
            <a:ext cx="429768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F2A44"/>
                </a:solidFill>
                <a:latin typeface="Microsoft YaHei"/>
                <a:ea typeface="Microsoft YaHei"/>
                <a:cs typeface="Microsoft YaHei"/>
              </a:rPr>
              <a:t>听课计划课前自动站内提醒，避免漏听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941064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840480"/>
            <a:ext cx="429768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F2A44"/>
                </a:solidFill>
                <a:latin typeface="Microsoft YaHei"/>
                <a:ea typeface="Microsoft YaHei"/>
                <a:cs typeface="Microsoft YaHei"/>
              </a:rPr>
              <a:t>通知可点击直达评价详情，反馈即时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690872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590288"/>
            <a:ext cx="429768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F2A44"/>
                </a:solidFill>
                <a:latin typeface="Microsoft YaHei"/>
                <a:ea typeface="Microsoft YaHei"/>
                <a:cs typeface="Microsoft YaHei"/>
              </a:rPr>
              <a:t>让质量改进闭环真正跑起来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2286000"/>
            <a:ext cx="4572000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83680" y="2286000"/>
            <a:ext cx="91440" cy="7498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720" y="2395728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督导专家提交评价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272491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完成课程评价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30632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90E2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0" y="3310128"/>
            <a:ext cx="4572000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0" y="3310128"/>
            <a:ext cx="91440" cy="749808"/>
          </a:xfrm>
          <a:prstGeom prst="rect">
            <a:avLst/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3419856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系统自动推送通知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3749039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无需人工传递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4087368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90E2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0" y="4343400"/>
            <a:ext cx="2194560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0" y="4343400"/>
            <a:ext cx="91440" cy="749808"/>
          </a:xfrm>
          <a:prstGeom prst="rect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4453128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研究生院主管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4773168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全局知晓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4343400"/>
            <a:ext cx="2194560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961120" y="4343400"/>
            <a:ext cx="91440" cy="749808"/>
          </a:xfrm>
          <a:prstGeom prst="rect">
            <a:avLst/>
          </a:prstGeom>
          <a:solidFill>
            <a:srgbClr val="E8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35440" y="4453128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对应学院教学秘书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0" y="4773168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本院知晓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13 / 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714500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7145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 核心功能 · 功能⑥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工号登录与用户管理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以工号为唯一凭证，角色权限清晰可控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395727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95144"/>
            <a:ext cx="4297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F2A44"/>
                </a:solidFill>
                <a:latin typeface="Microsoft YaHei"/>
                <a:ea typeface="Microsoft YaHei"/>
                <a:cs typeface="Microsoft YaHei"/>
              </a:rPr>
              <a:t>全体用户以工号作为唯一登录凭证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108960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008376"/>
            <a:ext cx="4297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F2A44"/>
                </a:solidFill>
                <a:latin typeface="Microsoft YaHei"/>
                <a:ea typeface="Microsoft YaHei"/>
                <a:cs typeface="Microsoft YaHei"/>
              </a:rPr>
              <a:t>初始密码即工号，支持首次登录后自助改密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822192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721608"/>
            <a:ext cx="4297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F2A44"/>
                </a:solidFill>
                <a:latin typeface="Microsoft YaHei"/>
                <a:ea typeface="Microsoft YaHei"/>
                <a:cs typeface="Microsoft YaHei"/>
              </a:rPr>
              <a:t>基于角色的权限控制与数据隔离（如学院秘书仅见本院）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535424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434840"/>
            <a:ext cx="4297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F2A44"/>
                </a:solidFill>
                <a:latin typeface="Microsoft YaHei"/>
                <a:ea typeface="Microsoft YaHei"/>
                <a:cs typeface="Microsoft YaHei"/>
              </a:rPr>
              <a:t>研究生院主管可进行用户与角色管理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77840" y="2286000"/>
            <a:ext cx="6035040" cy="3566160"/>
          </a:xfrm>
          <a:prstGeom prst="roundRect">
            <a:avLst>
              <a:gd name="adj" fmla="val 5000"/>
            </a:avLst>
          </a:prstGeom>
          <a:solidFill>
            <a:srgbClr val="F6F9FF"/>
          </a:solidFill>
          <a:ln w="20320">
            <a:solidFill>
              <a:srgbClr val="B9CB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77840" y="356616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B9CBE6"/>
                </a:solidFill>
                <a:latin typeface="Microsoft YaHei"/>
                <a:ea typeface="Microsoft YaHei"/>
                <a:cs typeface="Microsoft YaHei"/>
              </a:rPr>
              <a:t>［ 图 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7840" y="406908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建议替换为真实截图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448056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7E93B5"/>
                </a:solidFill>
                <a:latin typeface="Microsoft YaHei"/>
                <a:ea typeface="Microsoft YaHei"/>
                <a:cs typeface="Microsoft YaHei"/>
              </a:rPr>
              <a:t>工号登录页面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14 / 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973836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7383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05 业务闭环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督导业务闭环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从找课到改进，串成一条可沉淀、可统计、可追溯的数字化链路</a:t>
            </a:r>
          </a:p>
        </p:txBody>
      </p:sp>
      <p:pic>
        <p:nvPicPr>
          <p:cNvPr id="8" name="Picture 7" descr="business-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785691"/>
            <a:ext cx="10908792" cy="279537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15 / 23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973836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7383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05 技术架构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系统架构（简要）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前后端分离 · 数据驱动 · 真实课表自动解析建库</a:t>
            </a:r>
          </a:p>
        </p:txBody>
      </p:sp>
      <p:pic>
        <p:nvPicPr>
          <p:cNvPr id="8" name="Picture 7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419" y="2103120"/>
            <a:ext cx="7012112" cy="4160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16 / 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973836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7383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06 建设成果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建设成果小结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六个维度，系统已具备真实可用能力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03120"/>
            <a:ext cx="5349240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95528" y="2377439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2BA8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235915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27048" y="2304288"/>
            <a:ext cx="4251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真实数据驱动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706624"/>
            <a:ext cx="425195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1,344 门课 · 22 学院 · 2 校区 · 595 教师 · 58 用户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81928" y="2103120"/>
            <a:ext cx="5349240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10528" y="2377439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2BA8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235915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42048" y="2304288"/>
            <a:ext cx="4251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角色全覆盖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42048" y="2706624"/>
            <a:ext cx="425195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四类角色权限清晰，数据隔离到位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383279"/>
            <a:ext cx="5349240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95528" y="3657599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2BA8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8" y="3639311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7048" y="3584448"/>
            <a:ext cx="4251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流程全闭环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3986783"/>
            <a:ext cx="425195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找课—听课—评价—统计—反馈一站打通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1928" y="3383279"/>
            <a:ext cx="5349240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510528" y="3657599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2BA8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10528" y="3639311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42048" y="3584448"/>
            <a:ext cx="4251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评价标准化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2048" y="3986783"/>
            <a:ext cx="425195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复刻现行评价表，定量+定性，支持草稿与算分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4663440"/>
            <a:ext cx="5349240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95528" y="4937759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2BA8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5528" y="491947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7048" y="4864607"/>
            <a:ext cx="4251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质量有保障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7048" y="5266944"/>
            <a:ext cx="425195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全部单元测试通过 · TypeScript 零类型错误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81928" y="4663440"/>
            <a:ext cx="5349240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510528" y="4937759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2BA8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10528" y="491947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42048" y="4864607"/>
            <a:ext cx="4251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多端可用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42048" y="5266944"/>
            <a:ext cx="425195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电脑 / 平板 / 手机响应式适配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17 / 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973836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7383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06 开发方式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AI 辅助 + 数据驱动的敏捷开发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让“真实数据 → 可用系统”更快、更贴合一线需求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94560"/>
            <a:ext cx="3529584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86968" y="251460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496312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337560"/>
            <a:ext cx="28895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真实数据自动建库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886200"/>
            <a:ext cx="288950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直接以学校 Excel 课表为输入，自动解析建立业务数据库，省去大量人工录入与结构设计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2194560"/>
            <a:ext cx="3529584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63440" y="251460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2496312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337560"/>
            <a:ext cx="28895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快速搭建可用系统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886200"/>
            <a:ext cx="288950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四类角色、核心功能、商务蓝界面一次成型，前后端分离、PostgreSQL 稳定选型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19871" y="2194560"/>
            <a:ext cx="3529584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439911" y="251460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9911" y="2496312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9911" y="3337560"/>
            <a:ext cx="28895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真实反馈快速迭代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9911" y="3886200"/>
            <a:ext cx="288950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围绕督导专家与研究生院真实使用反馈多轮打磨，持续修复优化，贴合实际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28800" y="5303520"/>
            <a:ext cx="8531352" cy="640080"/>
          </a:xfrm>
          <a:prstGeom prst="roundRect">
            <a:avLst>
              <a:gd name="adj" fmla="val 30000"/>
            </a:avLst>
          </a:prstGeom>
          <a:solidFill>
            <a:srgbClr val="FFF7EA"/>
          </a:solidFill>
          <a:ln w="12700">
            <a:solidFill>
              <a:srgbClr val="E8A2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28800" y="5303520"/>
            <a:ext cx="853135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B57010"/>
                </a:solidFill>
                <a:latin typeface="Microsoft YaHei"/>
                <a:ea typeface="Microsoft YaHei"/>
                <a:cs typeface="Microsoft YaHei"/>
              </a:rPr>
              <a:t>显著压缩了从需求到可用系统的周期，使平台快速进入真实业务可用状态。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18 / 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973836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7383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06 应用价值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为不同角色创造价值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一套系统，四方受益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86000"/>
            <a:ext cx="2679192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86000"/>
            <a:ext cx="2679192" cy="14630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495044" y="2697480"/>
            <a:ext cx="822960" cy="822960"/>
          </a:xfrm>
          <a:prstGeom prst="roundRect">
            <a:avLst>
              <a:gd name="adj" fmla="val 50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95044" y="2679192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749039"/>
            <a:ext cx="2313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督导专家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" y="4251960"/>
            <a:ext cx="222199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找课快、评价简、记录全；听课计划与提醒不漏听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65576" y="2286000"/>
            <a:ext cx="2679192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65576" y="2286000"/>
            <a:ext cx="2679192" cy="146304"/>
          </a:xfrm>
          <a:prstGeom prst="rect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93692" y="2697480"/>
            <a:ext cx="822960" cy="822960"/>
          </a:xfrm>
          <a:prstGeom prst="roundRect">
            <a:avLst>
              <a:gd name="adj" fmla="val 50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93692" y="2679192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0E9F8E"/>
                </a:solidFill>
                <a:latin typeface="Microsoft YaHei"/>
                <a:ea typeface="Microsoft YaHei"/>
                <a:cs typeface="Microsoft YaHei"/>
              </a:rPr>
              <a:t>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48456" y="3749039"/>
            <a:ext cx="2313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学院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94176" y="4251960"/>
            <a:ext cx="222199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本院督导进度与评价质量一目了然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64224" y="2286000"/>
            <a:ext cx="2679192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64224" y="2286000"/>
            <a:ext cx="2679192" cy="146304"/>
          </a:xfrm>
          <a:prstGeom prst="rect">
            <a:avLst/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292340" y="2697480"/>
            <a:ext cx="822960" cy="822960"/>
          </a:xfrm>
          <a:prstGeom prst="roundRect">
            <a:avLst>
              <a:gd name="adj" fmla="val 50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92340" y="2679192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4A90E2"/>
                </a:solidFill>
                <a:latin typeface="Microsoft YaHei"/>
                <a:ea typeface="Microsoft YaHei"/>
                <a:cs typeface="Microsoft YaHei"/>
              </a:rPr>
              <a:t>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3749039"/>
            <a:ext cx="2313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研究生院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92824" y="4251960"/>
            <a:ext cx="222199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全局数据看板，督导工作有数可依、有据可查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262872" y="2286000"/>
            <a:ext cx="2679192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262872" y="2286000"/>
            <a:ext cx="2679192" cy="146304"/>
          </a:xfrm>
          <a:prstGeom prst="rect">
            <a:avLst/>
          </a:prstGeom>
          <a:solidFill>
            <a:srgbClr val="0E2A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0190988" y="2697480"/>
            <a:ext cx="822960" cy="822960"/>
          </a:xfrm>
          <a:prstGeom prst="roundRect">
            <a:avLst>
              <a:gd name="adj" fmla="val 50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90988" y="2679192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45751" y="3749039"/>
            <a:ext cx="2313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学校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91472" y="4251960"/>
            <a:ext cx="222199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5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研究生教学质量保障工作的数字化升级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19 / 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973836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7383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06 后续规划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下一步规划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让平台持续生长，覆盖更广、用得更深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94560"/>
            <a:ext cx="11064240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68680" y="2478024"/>
            <a:ext cx="182880" cy="1828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2194560"/>
            <a:ext cx="23774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角色扩展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194560"/>
            <a:ext cx="7772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增加分管院长等角色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054096"/>
            <a:ext cx="11064240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680" y="3337560"/>
            <a:ext cx="182880" cy="1828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3054096"/>
            <a:ext cx="23774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课程扩展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054096"/>
            <a:ext cx="7772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导入 MBA 等专业学位课程及评价表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13631"/>
            <a:ext cx="11064240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4197096"/>
            <a:ext cx="182880" cy="1828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3913631"/>
            <a:ext cx="23774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报表导出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3913631"/>
            <a:ext cx="7772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一键导出 PDF / Excel 评价报告，便于学期末汇总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73168"/>
            <a:ext cx="11064240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68680" y="5056632"/>
            <a:ext cx="182880" cy="1828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80160" y="4773168"/>
            <a:ext cx="23774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智能增强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4773168"/>
            <a:ext cx="7772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探索语音评价自动转写打分，降低填写成本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632704"/>
            <a:ext cx="11064240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8680" y="5916168"/>
            <a:ext cx="182880" cy="1828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80160" y="5632704"/>
            <a:ext cx="23774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分析升级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5632704"/>
            <a:ext cx="7772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教师评价趋势、同学院对标分析等高级图表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20 / 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220724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22072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07 答辩 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常见问题预演（一）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建设与数据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011680"/>
            <a:ext cx="534924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2249424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2311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31136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数据来源是否可靠？如何保证与真实课表一致？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926080"/>
            <a:ext cx="4800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全部数据来源于学校《全校总课表》等真实文件，自动解析建库（1,344 门课、22 学院、595 名教师），筛选逻辑与原课表一致，可随新学期课表定期更新。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81928" y="2011680"/>
            <a:ext cx="534924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37960" y="2249424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22311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59168" y="2231136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评价数据安全吗？会不会被篡改？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74536" y="2926080"/>
            <a:ext cx="4800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工号唯一登录 + 角色权限控制；学院秘书对评价为只读、不可修改删除；数据存于 PostgreSQL，操作可追溯。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041648"/>
            <a:ext cx="534924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2960" y="427939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26110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44168" y="4261104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评价标准如何统一？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" y="4956048"/>
            <a:ext cx="4800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评价表完全复刻学校现行《课程评价表》，20 项定量 + 定性，系统自动计算综合评分，口径一致、结果可比。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1928" y="4041648"/>
            <a:ext cx="534924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537960" y="427939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426110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59168" y="4261104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能否与现有信息化系统对接？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74536" y="4956048"/>
            <a:ext cx="4800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前后端分离、以工号为唯一标识，预留数据导入与接口能力，可逐步与研究生管理等系统对接。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21 / 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384048"/>
            <a:ext cx="1220724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22072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07 答辩 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常见问题预演（二）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389888"/>
            <a:ext cx="786384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490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应用与推广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011680"/>
            <a:ext cx="534924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2249424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2311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31136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老师上手难不难？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926080"/>
            <a:ext cx="4800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工号即账号、初始密码为工号；多维筛选快速找课，日历视图 + 课前提醒，评价支持保存草稿分次完成，上手成本低。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81928" y="2011680"/>
            <a:ext cx="534924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37960" y="2249424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22311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59168" y="2231136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研究生院如何掌握全校督导情况？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74536" y="2926080"/>
            <a:ext cx="4800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主管数据看板一屏总览（课程数、已完成评价、督导专家数、覆盖学院），并按学院图形化展示评价次数与评分分布。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041648"/>
            <a:ext cx="534924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2960" y="427939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26110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44168" y="4261104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能否支持 MBA 等其他课程？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" y="4956048"/>
            <a:ext cx="4800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可扩展。后续计划导入 MBA 等专业学位课程及对应评价表。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1928" y="4041648"/>
            <a:ext cx="534924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  <a:effectLst>
            <a:outerShdw blurRad="90000" dist="40000" dir="5400000" rotWithShape="0">
              <a:srgbClr val="0E2A5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537960" y="427939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426110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59168" y="4261104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E2A56"/>
                </a:solidFill>
                <a:latin typeface="Microsoft YaHei"/>
                <a:ea typeface="Microsoft YaHei"/>
                <a:cs typeface="Microsoft YaHei"/>
              </a:rPr>
              <a:t>下一步规划是什么？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74536" y="4956048"/>
            <a:ext cx="4800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C6B82"/>
                </a:solidFill>
                <a:latin typeface="Microsoft YaHei"/>
                <a:ea typeface="Microsoft YaHei"/>
                <a:cs typeface="Microsoft YaHei"/>
              </a:rPr>
              <a:t>分管院长角色、PDF/Excel 报表导出、语音评价自动打分、教师评价趋势与同学院对标分析。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浙江工商大学研究生院督导系统 · 建设成果汇报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47395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22 / 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2286000"/>
            <a:ext cx="1219169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谢　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547207" y="3703320"/>
            <a:ext cx="1097280" cy="73152"/>
          </a:xfrm>
          <a:prstGeom prst="roundRect">
            <a:avLst>
              <a:gd name="adj" fmla="val 50000"/>
            </a:avLst>
          </a:prstGeom>
          <a:solidFill>
            <a:srgbClr val="E8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4023360"/>
            <a:ext cx="121916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0">
                <a:solidFill>
                  <a:srgbClr val="DBE7FB"/>
                </a:solidFill>
                <a:latin typeface="Microsoft YaHei"/>
                <a:ea typeface="Microsoft YaHei"/>
                <a:cs typeface="Microsoft YaHei"/>
              </a:rPr>
              <a:t>浙江工商大学研究生院督导系统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66344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FB0E6"/>
                </a:solidFill>
                <a:latin typeface="Microsoft YaHei"/>
                <a:ea typeface="Microsoft YaHei"/>
                <a:cs typeface="Microsoft YaHei"/>
              </a:rPr>
              <a:t>数据驱动 · 流程闭环 · 多角色协同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