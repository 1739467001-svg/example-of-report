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828800"/>
            <a:ext cx="5669280" cy="384048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7FB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47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E0FF"/>
                </a:solidFill>
                <a:latin typeface="Microsoft YaHei"/>
                <a:ea typeface="Microsoft YaHei"/>
              </a:rPr>
              <a:t>浙江工商大学 · 研究生院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</a:rPr>
              <a:t>研究生院督导系统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7FB2FF"/>
                </a:solidFill>
                <a:latin typeface="Microsoft YaHei"/>
                <a:ea typeface="Microsoft YaHei"/>
              </a:rPr>
              <a:t>建设成果汇报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3434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E8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DBE7FB"/>
                </a:solidFill>
                <a:latin typeface="Microsoft YaHei"/>
                <a:ea typeface="Microsoft YaHei"/>
              </a:rPr>
              <a:t>基于全校真实课表数据的研究生教学督导一体化平台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B0E6"/>
                </a:solidFill>
                <a:latin typeface="Microsoft YaHei"/>
                <a:ea typeface="Microsoft YaHei"/>
              </a:rPr>
              <a:t>数据驱动 · 流程闭环 · 多角色协同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30175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474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汇报内容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221992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DD9E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2331720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9928" y="233172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276856"/>
            <a:ext cx="3337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项目背景与目标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697480"/>
            <a:ext cx="3337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痛点与建设愿景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057400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221992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DD9E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8" y="2331720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8" y="233172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76856"/>
            <a:ext cx="3337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系统概览 · 数据底座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697480"/>
            <a:ext cx="3337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真实数据一比一还原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10712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575304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DD9E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3685032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9928" y="368503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1448" y="3630168"/>
            <a:ext cx="3337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四类角色 · 权限体系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050791"/>
            <a:ext cx="3337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权限层层递进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3410712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575304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DD9E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8" y="3685032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4928" y="368503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630168"/>
            <a:ext cx="3337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核心功能与评价体系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050791"/>
            <a:ext cx="3337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标准化督导评价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764024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928616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DD9EE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9928" y="5038344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09928" y="503834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41448" y="4983480"/>
            <a:ext cx="3337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数据看板 · 业务闭环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41448" y="5404104"/>
            <a:ext cx="3337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看得见、管得住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1928" y="4764024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928616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DD9EE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24928" y="5038344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4928" y="503834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83480"/>
            <a:ext cx="3337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建设成果与后续规划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404104"/>
            <a:ext cx="3337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成果小结与展望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01 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为什么要建这个系统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传统研究生教学督导面临四大痛点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4884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3317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找课难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70632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B82"/>
                </a:solidFill>
                <a:latin typeface="Microsoft YaHei"/>
                <a:ea typeface="Microsoft YaHei"/>
              </a:rPr>
              <a:t>课程分散在多学院、两校区，含单双周，难快速定位目标课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214884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214884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23317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评价散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770632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B82"/>
                </a:solidFill>
                <a:latin typeface="Microsoft YaHei"/>
                <a:ea typeface="Microsoft YaHei"/>
              </a:rPr>
              <a:t>依赖纸质评价表，填写、收集、归档环节多，结果难沉淀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22191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822191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00507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统计弱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443983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B82"/>
                </a:solidFill>
                <a:latin typeface="Microsoft YaHei"/>
                <a:ea typeface="Microsoft YaHei"/>
              </a:rPr>
              <a:t>评价数据散落纸面，学院与研究生院缺乏全局视图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1648" y="3822191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822191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400507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反馈慢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4443983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B82"/>
                </a:solidFill>
                <a:latin typeface="Microsoft YaHei"/>
                <a:ea typeface="Microsoft YaHei"/>
              </a:rPr>
              <a:t>评价结果传递链路长，难成质量改进闭环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2148840"/>
            <a:ext cx="4069080" cy="3346704"/>
          </a:xfrm>
          <a:prstGeom prst="roundRect">
            <a:avLst>
              <a:gd name="adj" fmla="val 6000"/>
            </a:avLst>
          </a:prstGeom>
          <a:solidFill>
            <a:srgbClr val="0E2A56"/>
          </a:solidFill>
          <a:ln>
            <a:noFill/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4688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A23D"/>
                </a:solidFill>
                <a:latin typeface="Microsoft YaHei"/>
                <a:ea typeface="Microsoft YaHei"/>
              </a:rPr>
              <a:t>建设目标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063240"/>
            <a:ext cx="3429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E8F0FF"/>
                </a:solidFill>
                <a:latin typeface="Microsoft YaHei"/>
                <a:ea typeface="Microsoft YaHei"/>
              </a:rPr>
              <a:t>打造一个 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数据驱动 · 流程闭环 · 多角色协同</a:t>
            </a:r>
            <a:r>
              <a:rPr sz="1500" b="0">
                <a:solidFill>
                  <a:srgbClr val="E8F0FF"/>
                </a:solidFill>
                <a:latin typeface="Microsoft YaHei"/>
                <a:ea typeface="Microsoft YaHei"/>
              </a:rPr>
              <a:t> 的研究生教学督导一体化平台，把“全校总课表”变成 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可检索、可督导、可评价、可统计</a:t>
            </a:r>
            <a:r>
              <a:rPr sz="1500" b="0">
                <a:solidFill>
                  <a:srgbClr val="E8F0FF"/>
                </a:solidFill>
                <a:latin typeface="Microsoft YaHei"/>
                <a:ea typeface="Microsoft YaHei"/>
              </a:rPr>
              <a:t> 的在线平台。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02 系统概览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一个面向真实业务的督导平台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课程、教师、学院、校区、排课规则全部来源于学校真实数据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11064240" cy="86868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9144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3315F"/>
                </a:solidFill>
                <a:latin typeface="Microsoft YaHei"/>
                <a:ea typeface="Microsoft YaHei"/>
              </a:rPr>
              <a:t>系统完全以学校《全校总课表》《角色信息表》《课程评价表》搭建，</a:t>
            </a: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所见即真实业务</a:t>
            </a:r>
            <a:r>
              <a:rPr sz="1500" b="0">
                <a:solidFill>
                  <a:srgbClr val="13315F"/>
                </a:solidFill>
                <a:latin typeface="Microsoft YaHei"/>
                <a:ea typeface="Microsoft YaHei"/>
              </a:rPr>
              <a:t>，开箱即用。</a:t>
            </a:r>
          </a:p>
        </p:txBody>
      </p:sp>
      <p:pic>
        <p:nvPicPr>
          <p:cNvPr id="11" name="Picture 10" descr="data-fou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02736"/>
            <a:ext cx="11064240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106984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155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03 角色与权限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四类角色 · 权限层层递进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数据隔离 · 只读保护 · 逐级汇总，贴合研究生院真实管理结构</a:t>
            </a:r>
          </a:p>
        </p:txBody>
      </p:sp>
      <p:pic>
        <p:nvPicPr>
          <p:cNvPr id="8" name="Picture 7" descr="role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36231"/>
            <a:ext cx="10908792" cy="3477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04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六大核心功能模块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覆盖督导工作全流程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352958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4048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4048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08152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56"/>
                </a:solidFill>
                <a:latin typeface="Microsoft YaHei"/>
                <a:ea typeface="Microsoft YaHei"/>
              </a:rPr>
              <a:t>全校课程多维筛选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4728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按周次/星期/学院/校区/教师组合筛选，与课表一致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352958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24048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4048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90E2"/>
                </a:solidFill>
                <a:latin typeface="Microsoft YaHei"/>
                <a:ea typeface="Microsoft YaHei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8152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56"/>
                </a:solidFill>
                <a:latin typeface="Microsoft YaHei"/>
                <a:ea typeface="Microsoft YaHei"/>
              </a:rPr>
              <a:t>听课计划管理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4728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待办 + 日历视图，课前自动站内提醒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2148840"/>
            <a:ext cx="352958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94192" y="24048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4048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9F8E"/>
                </a:solidFill>
                <a:latin typeface="Microsoft YaHei"/>
                <a:ea typeface="Microsoft YaHe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08152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56"/>
                </a:solidFill>
                <a:latin typeface="Microsoft YaHei"/>
                <a:ea typeface="Microsoft YaHei"/>
              </a:rPr>
              <a:t>标准化课程评价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44728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复刻现行评价表，20 项定量 + 定性，支持草稿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206240"/>
            <a:ext cx="352958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7" y="44622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462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BA873"/>
                </a:solidFill>
                <a:latin typeface="Microsoft YaHei"/>
                <a:ea typeface="Microsoft YaHei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138927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56"/>
                </a:solidFill>
                <a:latin typeface="Microsoft YaHei"/>
                <a:ea typeface="Microsoft YaHei"/>
              </a:rPr>
              <a:t>数据看板与统计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550468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关键指标一屏总览，图形化展示评价分布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206240"/>
            <a:ext cx="352958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7720" y="44622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462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8A23D"/>
                </a:solidFill>
                <a:latin typeface="Microsoft YaHei"/>
                <a:ea typeface="Microsoft YaHei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138927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56"/>
                </a:solidFill>
                <a:latin typeface="Microsoft YaHei"/>
                <a:ea typeface="Microsoft YaHei"/>
              </a:rPr>
              <a:t>消息通知与提醒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50468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评价提交后自动通知学院与研究生院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1" y="4206240"/>
            <a:ext cx="3529584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94192" y="446227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4462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A2B8"/>
                </a:solidFill>
                <a:latin typeface="Microsoft YaHei"/>
                <a:ea typeface="Microsoft YaHei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5138927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56"/>
                </a:solidFill>
                <a:latin typeface="Microsoft YaHei"/>
                <a:ea typeface="Microsoft YaHei"/>
              </a:rPr>
              <a:t>工号登录与用户管理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5504688"/>
            <a:ext cx="3026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工号唯一凭证，可自助改密，角色管理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04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标准化课程评价体系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完全复刻学校现行《课程评价表》：20 项定量 + 定性，系统自动计算综合评分</a:t>
            </a:r>
          </a:p>
        </p:txBody>
      </p:sp>
      <p:pic>
        <p:nvPicPr>
          <p:cNvPr id="8" name="Picture 7" descr="eval-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5" y="2148840"/>
            <a:ext cx="1028700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04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评价记录与界面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评价详情清晰呈现各维度得分、综合评分与星级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7315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al-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28" y="2331720"/>
            <a:ext cx="6046599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321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课程评价记录详情页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194560"/>
            <a:ext cx="34290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val-form-i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553637"/>
            <a:ext cx="3063240" cy="665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553212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标准化评价表项（分级评分）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05 数据看板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研究生院主管工作台 · 数据可视化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关键指标一屏总览，评价结果多维度图形化呈现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704088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90" y="2331720"/>
            <a:ext cx="5959755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77840"/>
            <a:ext cx="7040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研究生院主管数据看板（真实界面）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194560"/>
            <a:ext cx="3749039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eval-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195" y="2331720"/>
            <a:ext cx="2984328" cy="320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0" y="557784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课程评价多维度可视化（示例）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05 业务闭环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督导业务闭环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从找课到改进，串成一条可沉淀、可统计、可追溯的数字化链路</a:t>
            </a:r>
          </a:p>
        </p:txBody>
      </p:sp>
      <p:pic>
        <p:nvPicPr>
          <p:cNvPr id="8" name="Picture 7" descr="business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77131"/>
            <a:ext cx="10908792" cy="27953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系统架构（简要）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前后端分离 · 数据驱动 · 真实课表自动解析建库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363" y="2148840"/>
            <a:ext cx="7166224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06 建设成果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建设成果小结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六个维度，系统已具备真实可用能力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2377439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2BA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230428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真实数据驱动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706624"/>
            <a:ext cx="4251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1,344 门课 · 22 学院 · 2 校区 · 595 教师 · 58 用户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2103120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10528" y="2377439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2BA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35915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30428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角色全覆盖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2706624"/>
            <a:ext cx="4251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四类角色权限清晰，数据隔离到位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383279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8" y="3657599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2BA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393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58444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流程全闭环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986783"/>
            <a:ext cx="4251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找课—听课—评价—统计—反馈一站打通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383279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10528" y="3657599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2BA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6393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358444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评价标准化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3986783"/>
            <a:ext cx="4251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复刻现行评价表，定量+定性，支持草稿与算分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63440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528" y="4937759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2BA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91947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4864607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质量有保障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5266944"/>
            <a:ext cx="4251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全部单元测试通过 · TypeScript 零类型错误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4663440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10528" y="4937759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2BA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91947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2048" y="4864607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多端可用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5266944"/>
            <a:ext cx="4251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</a:rPr>
              <a:t>电脑 / 平板 / 手机响应式适配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开发方式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AI 辅助 + 数据驱动的敏捷开发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让“真实数据 → 可用系统”更快、更贴合一线需求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40280"/>
            <a:ext cx="3529584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83280"/>
            <a:ext cx="2889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真实数据自动建库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28895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C6B82"/>
                </a:solidFill>
                <a:latin typeface="Microsoft YaHei"/>
                <a:ea typeface="Microsoft YaHei"/>
              </a:rPr>
              <a:t>直接以学校 Excel 课表为输入，自动解析建立业务数据库，省去大量人工录入与结构设计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40280"/>
            <a:ext cx="3529584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83280"/>
            <a:ext cx="2889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快速搭建可用系统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931920"/>
            <a:ext cx="28895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C6B82"/>
                </a:solidFill>
                <a:latin typeface="Microsoft YaHei"/>
                <a:ea typeface="Microsoft YaHei"/>
              </a:rPr>
              <a:t>四类角色、核心功能、商务蓝界面一次成型，前后端分离、PostgreSQL 稳定选型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2240280"/>
            <a:ext cx="3529584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39911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3383280"/>
            <a:ext cx="2889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真实反馈快速迭代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3931920"/>
            <a:ext cx="28895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C6B82"/>
                </a:solidFill>
                <a:latin typeface="Microsoft YaHei"/>
                <a:ea typeface="Microsoft YaHei"/>
              </a:rPr>
              <a:t>围绕督导专家与研究生院真实使用反馈多轮打磨，持续修复优化，贴合实际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5349240"/>
            <a:ext cx="8531352" cy="640080"/>
          </a:xfrm>
          <a:prstGeom prst="roundRect">
            <a:avLst>
              <a:gd name="adj" fmla="val 30000"/>
            </a:avLst>
          </a:prstGeom>
          <a:solidFill>
            <a:srgbClr val="FFF7EA"/>
          </a:solidFill>
          <a:ln w="12700">
            <a:solidFill>
              <a:srgbClr val="E8A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5349240"/>
            <a:ext cx="85313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57010"/>
                </a:solidFill>
                <a:latin typeface="Microsoft YaHei"/>
                <a:ea typeface="Microsoft YaHei"/>
              </a:rPr>
              <a:t>显著压缩了从需求到可用系统的周期，使平台快速进入真实业务可用状态。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6035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应用价值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为不同角色创造价值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一套系统，四方受益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267919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86000"/>
            <a:ext cx="2679192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95044" y="26974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5044" y="26974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Microsoft YaHei"/>
                <a:ea typeface="Microsoft YaHe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49039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督导专家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251960"/>
            <a:ext cx="22219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5C6B82"/>
                </a:solidFill>
                <a:latin typeface="Microsoft YaHei"/>
                <a:ea typeface="Microsoft YaHei"/>
              </a:rPr>
              <a:t>找课快、评价简、记录全；听课计划与提醒不漏听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5576" y="2286000"/>
            <a:ext cx="267919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65576" y="2286000"/>
            <a:ext cx="2679192" cy="14630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3692" y="26974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3692" y="26974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E9F8E"/>
                </a:solidFill>
                <a:latin typeface="Microsoft YaHei"/>
                <a:ea typeface="Microsoft YaHe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3749039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学院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4251960"/>
            <a:ext cx="22219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5C6B82"/>
                </a:solidFill>
                <a:latin typeface="Microsoft YaHei"/>
                <a:ea typeface="Microsoft YaHei"/>
              </a:rPr>
              <a:t>本院督导进度与评价质量一目了然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2286000"/>
            <a:ext cx="267919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2286000"/>
            <a:ext cx="2679192" cy="146304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92340" y="26974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2340" y="26974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A90E2"/>
                </a:solidFill>
                <a:latin typeface="Microsoft YaHei"/>
                <a:ea typeface="Microsoft YaHei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749039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研究生院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2824" y="4251960"/>
            <a:ext cx="22219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5C6B82"/>
                </a:solidFill>
                <a:latin typeface="Microsoft YaHei"/>
                <a:ea typeface="Microsoft YaHei"/>
              </a:rPr>
              <a:t>全局数据看板，督导工作有数可依、有据可查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62872" y="2286000"/>
            <a:ext cx="267919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62872" y="2286000"/>
            <a:ext cx="2679192" cy="146304"/>
          </a:xfrm>
          <a:prstGeom prst="rect">
            <a:avLst/>
          </a:prstGeom>
          <a:solidFill>
            <a:srgbClr val="0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90988" y="26974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0988" y="26974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E2A56"/>
                </a:solidFill>
                <a:latin typeface="Microsoft YaHei"/>
                <a:ea typeface="Microsoft YaHe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1" y="3749039"/>
            <a:ext cx="2313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56"/>
                </a:solidFill>
                <a:latin typeface="Microsoft YaHei"/>
                <a:ea typeface="Microsoft YaHei"/>
              </a:rPr>
              <a:t>学校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1472" y="4251960"/>
            <a:ext cx="22219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5C6B82"/>
                </a:solidFill>
                <a:latin typeface="Microsoft YaHei"/>
                <a:ea typeface="Microsoft YaHei"/>
              </a:rPr>
              <a:t>研究生教学质量保障工作的数字化升级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8404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87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06 后续规划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56"/>
                </a:solidFill>
                <a:latin typeface="Microsoft YaHei"/>
                <a:ea typeface="Microsoft YaHei"/>
              </a:rPr>
              <a:t>下一步规划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17320"/>
            <a:ext cx="82296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让平台持续生长，覆盖更广、用得更深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110642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478024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角色扩展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7772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增加分管院长等角色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54096"/>
            <a:ext cx="110642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337560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054096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课程扩展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54096"/>
            <a:ext cx="7772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导入 MBA 等专业学位课程及评价表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13631"/>
            <a:ext cx="110642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197096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913631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报表导出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13631"/>
            <a:ext cx="7772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一键导出 PDF / Excel 评价报告，便于学期末汇总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73168"/>
            <a:ext cx="110642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5056632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773168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智能增强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773168"/>
            <a:ext cx="7772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探索语音评价自动转写打分，降低填写成本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2704"/>
            <a:ext cx="110642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  <a:effectLst>
            <a:outerShdw blurRad="90000" dist="40000" dir="5400000" rotWithShape="0">
              <a:srgbClr val="0E2A5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916168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632704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56"/>
                </a:solidFill>
                <a:latin typeface="Microsoft YaHei"/>
                <a:ea typeface="Microsoft YaHei"/>
              </a:rPr>
              <a:t>分析升级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632704"/>
            <a:ext cx="7772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B82"/>
                </a:solidFill>
                <a:latin typeface="Microsoft YaHei"/>
                <a:ea typeface="Microsoft YaHei"/>
              </a:rPr>
              <a:t>教师评价趋势、同学院对标分析等高级图表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浙江工商大学研究生院督导系统 · 建设成果汇报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FB0C8"/>
                </a:solidFill>
                <a:latin typeface="Microsoft YaHei"/>
                <a:ea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28600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谢　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47207" y="3703320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E8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BE7FB"/>
                </a:solidFill>
                <a:latin typeface="Microsoft YaHei"/>
                <a:ea typeface="Microsoft YaHei"/>
              </a:rPr>
              <a:t>浙江工商大学研究生院督导系统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FB0E6"/>
                </a:solidFill>
                <a:latin typeface="Microsoft YaHei"/>
                <a:ea typeface="Microsoft YaHei"/>
              </a:rPr>
              <a:t>数据驱动 · 流程闭环 · 多角色协同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