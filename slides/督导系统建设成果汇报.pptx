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14400" y="1554480"/>
            <a:ext cx="566928" cy="566928"/>
          </a:xfrm>
          <a:prstGeom prst="roundRect">
            <a:avLst>
              <a:gd name="adj" fmla="val 22000"/>
            </a:avLst>
          </a:prstGeom>
          <a:noFill/>
          <a:ln w="17780">
            <a:solidFill>
              <a:srgbClr val="7FB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7FB2FF"/>
                </a:solidFill>
                <a:latin typeface="Microsoft YaHei"/>
                <a:ea typeface="Microsoft YaHei"/>
                <a:cs typeface="Microsoft YaHei"/>
              </a:rPr>
              <a:t>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591056"/>
            <a:ext cx="6400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AF2FF"/>
                </a:solidFill>
                <a:latin typeface="Microsoft YaHei"/>
                <a:ea typeface="Microsoft YaHei"/>
                <a:cs typeface="Microsoft YaHei"/>
              </a:rPr>
              <a:t>浙江工商大学 · 研究生院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36776" y="1975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7E9BCE"/>
                </a:solidFill>
                <a:latin typeface="Microsoft YaHei"/>
                <a:ea typeface="Microsoft YaHei"/>
                <a:cs typeface="Microsoft YaHei"/>
              </a:rPr>
              <a:t>ZHEJIANG GONGSHANG UNIVERSITY · GRADUATE 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研究生院督导系统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7FB2FF"/>
                </a:solidFill>
                <a:latin typeface="Microsoft YaHei"/>
                <a:ea typeface="Microsoft YaHei"/>
                <a:cs typeface="Microsoft YaHei"/>
              </a:rPr>
              <a:t>建设成果汇报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4389120"/>
            <a:ext cx="914400" cy="73152"/>
          </a:xfrm>
          <a:prstGeom prst="roundRect">
            <a:avLst>
              <a:gd name="adj" fmla="val 50000"/>
            </a:avLst>
          </a:prstGeom>
          <a:solidFill>
            <a:srgbClr val="E8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DBE7FB"/>
                </a:solidFill>
                <a:latin typeface="Microsoft YaHei"/>
                <a:ea typeface="Microsoft YaHei"/>
                <a:cs typeface="Microsoft YaHei"/>
              </a:rPr>
              <a:t>基于全校真实课表数据的研究生教学督导一体化平台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74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E6"/>
                </a:solidFill>
                <a:latin typeface="Microsoft YaHei"/>
                <a:ea typeface="Microsoft YaHei"/>
                <a:cs typeface="Microsoft YaHei"/>
              </a:rPr>
              <a:t>数据驱动 · 流程闭环 · 多角色协同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35661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35661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汇报内容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CONTENTS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947672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2075688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18488" y="20574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2848" y="1993392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项目背景与目标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2359152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痛点与建设愿景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1928" y="1828800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1947672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075688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33488" y="20574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48" y="1993392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系统概览 · 数据底座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2359152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真实数据一比一还原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889504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008376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18488" y="3136392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8488" y="311810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12848" y="3054096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四类角色 · 权限体系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419856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权限层层递进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81928" y="2889504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3008376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33488" y="3136392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3488" y="311810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7848" y="3054096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六大核心功能详解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7848" y="3419856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逐项展开核心能力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3950208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4069080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618488" y="4197096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8488" y="41788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12848" y="4114800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业务闭环与系统架构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12848" y="4480560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看得见、管得住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81928" y="3950208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83096" y="4069080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33488" y="4197096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33488" y="41788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27848" y="4114800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成果 · 价值 · 规划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27848" y="4480560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小结与展望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5010912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6" y="5129783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618488" y="5257800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8488" y="523951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2848" y="5175503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答辩 Q&amp;A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5541264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常见问题预演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 项目背景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为什么要建这个系统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传统研究生教学督导面临四大痛点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48840"/>
            <a:ext cx="32004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148840"/>
            <a:ext cx="91440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33172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找课难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770632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课程分散在多学院、两校区，含单双周，难快速定位目标课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41648" y="2148840"/>
            <a:ext cx="32004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41648" y="2148840"/>
            <a:ext cx="91440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233172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评价散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2770632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依赖纸质评价表，填写、收集、归档环节多，结果难沉淀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22191"/>
            <a:ext cx="32004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822191"/>
            <a:ext cx="91440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005072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统计弱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443983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评价数据散落纸面，学院与研究生院缺乏全局视图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41648" y="3822191"/>
            <a:ext cx="32004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41648" y="3822191"/>
            <a:ext cx="91440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34256" y="4005072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反馈慢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34256" y="4443983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评价结果传递链路长，难成质量改进闭环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2148840"/>
            <a:ext cx="4069080" cy="3346704"/>
          </a:xfrm>
          <a:prstGeom prst="roundRect">
            <a:avLst>
              <a:gd name="adj" fmla="val 6000"/>
            </a:avLst>
          </a:prstGeom>
          <a:solidFill>
            <a:srgbClr val="0E2A56"/>
          </a:solidFill>
          <a:ln>
            <a:noFill/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9560" y="24688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8A23D"/>
                </a:solidFill>
                <a:latin typeface="Microsoft YaHei"/>
                <a:ea typeface="Microsoft YaHei"/>
                <a:cs typeface="Microsoft YaHei"/>
              </a:rPr>
              <a:t>建设目标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9560" y="3063240"/>
            <a:ext cx="3429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E8F0FF"/>
                </a:solidFill>
                <a:latin typeface="Microsoft YaHei"/>
                <a:ea typeface="Microsoft YaHei"/>
                <a:cs typeface="Microsoft YaHei"/>
              </a:rPr>
              <a:t>打造一个 </a:t>
            </a: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数据驱动 · 流程闭环 · 多角色协同</a:t>
            </a:r>
            <a:r>
              <a:rPr sz="1500" b="0">
                <a:solidFill>
                  <a:srgbClr val="E8F0FF"/>
                </a:solidFill>
                <a:latin typeface="Microsoft YaHei"/>
                <a:ea typeface="Microsoft YaHei"/>
                <a:cs typeface="Microsoft YaHei"/>
              </a:rPr>
              <a:t> 的研究生教学督导一体化平台，把“全校总课表”变成 </a:t>
            </a: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可检索、可督导、可评价、可统计</a:t>
            </a:r>
            <a:r>
              <a:rPr sz="1500" b="0">
                <a:solidFill>
                  <a:srgbClr val="E8F0FF"/>
                </a:solidFill>
                <a:latin typeface="Microsoft YaHei"/>
                <a:ea typeface="Microsoft YaHei"/>
                <a:cs typeface="Microsoft YaHei"/>
              </a:rPr>
              <a:t> 的在线平台。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 系统概览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一个面向真实业务的督导平台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课程、教师、学院、校区、排课规则全部来源于学校真实数据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03120"/>
            <a:ext cx="11064240" cy="868680"/>
          </a:xfrm>
          <a:prstGeom prst="roundRect">
            <a:avLst>
              <a:gd name="adj" fmla="val 1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103120"/>
            <a:ext cx="91440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3315F"/>
                </a:solidFill>
                <a:latin typeface="Microsoft YaHei"/>
                <a:ea typeface="Microsoft YaHei"/>
                <a:cs typeface="Microsoft YaHei"/>
              </a:rPr>
              <a:t>系统完全以学校《全校总课表》《角色信息表》《课程评价表》搭建，</a:t>
            </a: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所见即真实业务</a:t>
            </a:r>
            <a:r>
              <a:rPr sz="1500" b="0">
                <a:solidFill>
                  <a:srgbClr val="13315F"/>
                </a:solidFill>
                <a:latin typeface="Microsoft YaHei"/>
                <a:ea typeface="Microsoft YaHei"/>
                <a:cs typeface="Microsoft YaHei"/>
              </a:rPr>
              <a:t>，开箱即用。</a:t>
            </a:r>
          </a:p>
        </p:txBody>
      </p:sp>
      <p:pic>
        <p:nvPicPr>
          <p:cNvPr id="11" name="Picture 10" descr="data-foun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02736"/>
            <a:ext cx="11064240" cy="22128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0972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 角色与权限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四类角色 · 权限层层递进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数据隔离 · 只读保护 · 逐级汇总，贴合研究生院真实管理结构</a:t>
            </a:r>
          </a:p>
        </p:txBody>
      </p:sp>
      <p:pic>
        <p:nvPicPr>
          <p:cNvPr id="8" name="Picture 7" descr="role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44791"/>
            <a:ext cx="10908792" cy="34771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六大核心功能模块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覆盖督导工作全流程，下面逐项展开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488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24048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3865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08152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全校课程多维筛选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4472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按周次/星期/学院/校区/教师组合筛选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17720" y="24048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3865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90E2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8152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听课计划管理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4472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待办 + 日历视图，课前自动提醒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1" y="21488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94192" y="24048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94192" y="23865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E9F8E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08152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标准化课程评价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4472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20 项定量 + 定性，支持草稿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062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1247" y="44622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" y="444398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2BA873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" y="5138927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数据看板与统计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55046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关键指标总览，图形化展示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2062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17720" y="44622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444398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8A23D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5138927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消息通知与提醒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55046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评价提交后自动通知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19871" y="42062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394192" y="44622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94192" y="444398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FA2B8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94192" y="5138927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工号登录与用户管理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94192" y="55046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工号唯一凭证，角色权限控制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全校课程多维筛选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按多维度精确定位目标课程，与原始课表完全一致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95727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95144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全校 1,344 门课程在线检索，告别翻纸质课表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08960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08376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支持 周次 / 星期 / 学院 / 校区 / 教师 多维组合筛选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2219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21608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筛选逻辑与原课表一致（如“会计学院 + 第 3 周”精确联动）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3542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督导专家可快速锁定“本周哪天、哪个学院、哪位老师”有课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77840" y="2286000"/>
            <a:ext cx="6035040" cy="3566160"/>
          </a:xfrm>
          <a:prstGeom prst="roundRect">
            <a:avLst>
              <a:gd name="adj" fmla="val 5000"/>
            </a:avLst>
          </a:prstGeom>
          <a:solidFill>
            <a:srgbClr val="F6F9FF"/>
          </a:solidFill>
          <a:ln w="20320">
            <a:solidFill>
              <a:srgbClr val="B9CB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356616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B9CBE6"/>
                </a:solidFill>
                <a:latin typeface="Microsoft YaHei"/>
                <a:ea typeface="Microsoft YaHei"/>
                <a:cs typeface="Microsoft YaHei"/>
              </a:rPr>
              <a:t>［ 图 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406908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建议替换为真实截图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448056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7E93B5"/>
                </a:solidFill>
                <a:latin typeface="Microsoft YaHei"/>
                <a:ea typeface="Microsoft YaHei"/>
                <a:cs typeface="Microsoft YaHei"/>
              </a:rPr>
              <a:t>全校课程 · 筛选页面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听课计划 · 待办与日历视图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把有意向的课程一键纳入计划，按周直观安排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95727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95144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一键将课程加入听课计划（类似待办清单）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08960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08376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日历视图：以“节次 × 星期”网格展示当周安排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2219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21608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待听课 / 已评价 / 已取消 三种状态不同颜色区分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3542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课前自动站内提醒，避免漏听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77840" y="2286000"/>
            <a:ext cx="6035040" cy="3566160"/>
          </a:xfrm>
          <a:prstGeom prst="roundRect">
            <a:avLst>
              <a:gd name="adj" fmla="val 5000"/>
            </a:avLst>
          </a:prstGeom>
          <a:solidFill>
            <a:srgbClr val="F6F9FF"/>
          </a:solidFill>
          <a:ln w="20320">
            <a:solidFill>
              <a:srgbClr val="B9CB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356616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B9CBE6"/>
                </a:solidFill>
                <a:latin typeface="Microsoft YaHei"/>
                <a:ea typeface="Microsoft YaHei"/>
                <a:cs typeface="Microsoft YaHei"/>
              </a:rPr>
              <a:t>［ 图 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406908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建议替换为真实截图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448056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7E93B5"/>
                </a:solidFill>
                <a:latin typeface="Microsoft YaHei"/>
                <a:ea typeface="Microsoft YaHei"/>
                <a:cs typeface="Microsoft YaHei"/>
              </a:rPr>
              <a:t>听课计划 · 日历视图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标准化课程评价体系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完全复刻学校现行《课程评价表》：20 项定量 + 定性，系统自动计算综合评分</a:t>
            </a:r>
          </a:p>
        </p:txBody>
      </p:sp>
      <p:pic>
        <p:nvPicPr>
          <p:cNvPr id="8" name="Picture 7" descr="eval-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588" y="2103120"/>
            <a:ext cx="10065774" cy="416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评价记录与界面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评价详情清晰呈现各维度得分、综合评分与星级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94560"/>
            <a:ext cx="73152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val-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228" y="2331720"/>
            <a:ext cx="6046599" cy="3108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55321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课程评价记录详情页（真实界面）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2194560"/>
            <a:ext cx="34290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val-form-it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3553637"/>
            <a:ext cx="3063240" cy="665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83879" y="5532120"/>
            <a:ext cx="3429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标准化评价表项（分级评分）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研究生院主管工作台 · 数据可视化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关键指标一屏总览，评价结果多维度图形化呈现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94560"/>
            <a:ext cx="704088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490" y="2331720"/>
            <a:ext cx="5959755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5577840"/>
            <a:ext cx="7040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研究生院主管数据看板（真实界面）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2194560"/>
            <a:ext cx="3749039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eval-ra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6195" y="2331720"/>
            <a:ext cx="2984328" cy="3200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63840" y="5577840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课程评价多维度可视化（示例）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学院评价统计分析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按学院展示督导评价次数与评分分布，支撑质量决策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48840"/>
            <a:ext cx="61264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297" y="2286000"/>
            <a:ext cx="5141741" cy="31089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03720" y="2148840"/>
            <a:ext cx="470916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score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4881" y="2286000"/>
            <a:ext cx="3706836" cy="3108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7E93B5"/>
                </a:solidFill>
                <a:latin typeface="Microsoft YaHei"/>
                <a:ea typeface="Microsoft YaHei"/>
                <a:cs typeface="Microsoft YaHei"/>
              </a:rPr>
              <a:t>※ 上图为示例数据，接入真实评价数据后由系统自动生成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消息通知与提醒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打通“评价完成 → 学院/研究生院知晓”的反馈链路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44144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40864"/>
            <a:ext cx="429768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评价提交后自动通知研究生院主管与对应学院教学秘书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9125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90672"/>
            <a:ext cx="429768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听课计划课前自动站内提醒，避免漏听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94106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40480"/>
            <a:ext cx="429768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通知可点击直达评价详情，反馈即时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6908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90288"/>
            <a:ext cx="429768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让质量改进闭环真正跑起来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286000"/>
            <a:ext cx="457200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0" y="2286000"/>
            <a:ext cx="91440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39572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督导专家提交评价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72491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完成课程评价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063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90E2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3310128"/>
            <a:ext cx="457200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0" y="3310128"/>
            <a:ext cx="91440" cy="749808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3419856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系统自动推送通知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3749039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无需人工传递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08736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90E2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343400"/>
            <a:ext cx="219456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0" y="4343400"/>
            <a:ext cx="91440" cy="749808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45312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研究生院主管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7731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全局知晓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4343400"/>
            <a:ext cx="219456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61120" y="4343400"/>
            <a:ext cx="91440" cy="749808"/>
          </a:xfrm>
          <a:prstGeom prst="rect">
            <a:avLst/>
          </a:prstGeom>
          <a:solidFill>
            <a:srgbClr val="E8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0" y="445312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对应学院教学秘书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47731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本院知晓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工号登录与用户管理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以工号为唯一凭证，角色权限清晰可控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95727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95144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全体用户以工号作为唯一登录凭证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08960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08376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初始密码即工号，支持首次登录后自助改密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2219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21608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基于角色的权限控制与数据隔离（如学院秘书仅见本院）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3542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研究生院主管可进行用户与角色管理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77840" y="2286000"/>
            <a:ext cx="6035040" cy="3566160"/>
          </a:xfrm>
          <a:prstGeom prst="roundRect">
            <a:avLst>
              <a:gd name="adj" fmla="val 5000"/>
            </a:avLst>
          </a:prstGeom>
          <a:solidFill>
            <a:srgbClr val="F6F9FF"/>
          </a:solidFill>
          <a:ln w="20320">
            <a:solidFill>
              <a:srgbClr val="B9CB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356616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B9CBE6"/>
                </a:solidFill>
                <a:latin typeface="Microsoft YaHei"/>
                <a:ea typeface="Microsoft YaHei"/>
                <a:cs typeface="Microsoft YaHei"/>
              </a:rPr>
              <a:t>［ 图 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406908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建议替换为真实截图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448056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7E93B5"/>
                </a:solidFill>
                <a:latin typeface="Microsoft YaHei"/>
                <a:ea typeface="Microsoft YaHei"/>
                <a:cs typeface="Microsoft YaHei"/>
              </a:rPr>
              <a:t>工号登录页面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 业务闭环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督导业务闭环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从找课到改进，串成一条可沉淀、可统计、可追溯的数字化链路</a:t>
            </a:r>
          </a:p>
        </p:txBody>
      </p:sp>
      <p:pic>
        <p:nvPicPr>
          <p:cNvPr id="8" name="Picture 7" descr="business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785691"/>
            <a:ext cx="10908792" cy="27953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 技术架构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系统架构（简要）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前后端分离 · 数据驱动 · 真实课表自动解析建库 · 已部署阿里云上线运行</a:t>
            </a:r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419" y="2103120"/>
            <a:ext cx="7012112" cy="416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 建设成果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建设成果小结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系统已上线，六个维度具备真实可用能力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01952"/>
            <a:ext cx="11064240" cy="603504"/>
          </a:xfrm>
          <a:prstGeom prst="roundRect">
            <a:avLst>
              <a:gd name="adj" fmla="val 10000"/>
            </a:avLst>
          </a:prstGeom>
          <a:solidFill>
            <a:srgbClr val="0E9F8E"/>
          </a:solidFill>
          <a:ln>
            <a:noFill/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01952"/>
            <a:ext cx="11064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✅  系统已部署上线运行（阿里云），持续运维迭代 —— 面向真实业务的可用系统，而非演示原型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97480"/>
            <a:ext cx="5349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8" y="291693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89864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2862072"/>
            <a:ext cx="4297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真实数据驱动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3246120"/>
            <a:ext cx="4297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1,344 门课 · 22 学院 · 2 校区 · 595 教师 · 58 用户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697480"/>
            <a:ext cx="5349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10528" y="291693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89864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96328" y="2862072"/>
            <a:ext cx="4297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角色全覆盖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3246120"/>
            <a:ext cx="4297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四类角色权限清晰，数据隔离到位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794760"/>
            <a:ext cx="5349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401421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99592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959352"/>
            <a:ext cx="4297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流程全闭环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343400"/>
            <a:ext cx="4297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找课—听课—评价—统计—反馈一站打通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81928" y="3794760"/>
            <a:ext cx="5349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10528" y="401421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399592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96328" y="3959352"/>
            <a:ext cx="4297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评价标准化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343400"/>
            <a:ext cx="4297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复刻现行评价表，定量+定性，支持草稿与算分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4892040"/>
            <a:ext cx="5349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5528" y="511149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" y="5093207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81328" y="5056631"/>
            <a:ext cx="4297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质量有保障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81328" y="5440679"/>
            <a:ext cx="4297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全部单元测试通过 · TypeScript 零类型错误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81928" y="4892040"/>
            <a:ext cx="5349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510528" y="511149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0528" y="5093207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96328" y="5056631"/>
            <a:ext cx="4297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多端可用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96328" y="5440679"/>
            <a:ext cx="4297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电脑 / 平板 / 手机响应式适配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 开发方式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AI 辅助 + 数据驱动的敏捷开发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让“真实数据 → 可用系统”更快、更贴合一线需求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94560"/>
            <a:ext cx="3529584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6968" y="25146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49631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337560"/>
            <a:ext cx="2889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真实数据自动建库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886200"/>
            <a:ext cx="28895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直接以学校 Excel 课表为输入，自动解析建立业务数据库，省去大量人工录入与结构设计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94560"/>
            <a:ext cx="3529584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63440" y="25146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49631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337560"/>
            <a:ext cx="2889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快速搭建可用系统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886200"/>
            <a:ext cx="28895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四类角色、核心功能、商务蓝界面一次成型，前后端分离、PostgreSQL 稳定选型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1" y="2194560"/>
            <a:ext cx="3529584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39911" y="25146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9911" y="249631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1" y="3337560"/>
            <a:ext cx="2889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真实反馈快速迭代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1" y="3886200"/>
            <a:ext cx="28895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围绕督导专家与研究生院真实使用反馈多轮打磨，持续修复优化，贴合实际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28800" y="5303520"/>
            <a:ext cx="8531352" cy="640080"/>
          </a:xfrm>
          <a:prstGeom prst="roundRect">
            <a:avLst>
              <a:gd name="adj" fmla="val 30000"/>
            </a:avLst>
          </a:prstGeom>
          <a:solidFill>
            <a:srgbClr val="FFF7EA"/>
          </a:solidFill>
          <a:ln w="12700">
            <a:solidFill>
              <a:srgbClr val="E8A2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28800" y="5303520"/>
            <a:ext cx="853135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B57010"/>
                </a:solidFill>
                <a:latin typeface="Microsoft YaHei"/>
                <a:ea typeface="Microsoft YaHei"/>
                <a:cs typeface="Microsoft YaHei"/>
              </a:rPr>
              <a:t>显著压缩了从需求到可用系统的周期，使平台快速进入真实业务可用状态。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 应用价值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为不同角色创造价值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一套系统，四方受益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86000"/>
            <a:ext cx="267919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86000"/>
            <a:ext cx="2679192" cy="1463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95044" y="269748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95044" y="26791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749039"/>
            <a:ext cx="2313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督导专家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4251960"/>
            <a:ext cx="22219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找课快、评价简、记录全；听课计划与提醒不漏听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5576" y="2286000"/>
            <a:ext cx="267919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65576" y="2286000"/>
            <a:ext cx="2679192" cy="146304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93692" y="269748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3692" y="26791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0E9F8E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8456" y="3749039"/>
            <a:ext cx="2313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学院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94176" y="4251960"/>
            <a:ext cx="22219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本院督导进度与评价质量一目了然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64224" y="2286000"/>
            <a:ext cx="267919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64224" y="2286000"/>
            <a:ext cx="2679192" cy="146304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92340" y="269748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2340" y="26791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4A90E2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749039"/>
            <a:ext cx="2313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研究生院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2824" y="4251960"/>
            <a:ext cx="22219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全局数据看板，督导工作有数可依、有据可查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62872" y="2286000"/>
            <a:ext cx="267919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62872" y="2286000"/>
            <a:ext cx="2679192" cy="146304"/>
          </a:xfrm>
          <a:prstGeom prst="rect">
            <a:avLst/>
          </a:prstGeom>
          <a:solidFill>
            <a:srgbClr val="0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190988" y="269748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90988" y="26791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5751" y="3749039"/>
            <a:ext cx="2313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学校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1472" y="4251960"/>
            <a:ext cx="22219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研究生教学质量保障工作的数字化升级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 后续规划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下一步规划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让平台持续生长，覆盖更广、用得更深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94560"/>
            <a:ext cx="110642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2478024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194560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角色扩展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194560"/>
            <a:ext cx="7772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增加分管院长等角色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54096"/>
            <a:ext cx="110642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3337560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054096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课程扩展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054096"/>
            <a:ext cx="7772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导入 MBA 等专业学位课程及评价表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13631"/>
            <a:ext cx="110642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197096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913631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报表导出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913631"/>
            <a:ext cx="7772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一键导出 PDF / Excel 评价报告，便于学期末汇总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73168"/>
            <a:ext cx="110642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8680" y="5056632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4773168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智能增强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773168"/>
            <a:ext cx="7772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探索语音评价自动转写打分，降低填写成本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632704"/>
            <a:ext cx="110642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680" y="5916168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5632704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分析升级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632704"/>
            <a:ext cx="7772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教师评价趋势、同学院对标分析等高级图表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220724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2207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 答辩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常见问题预演（一）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建设与数据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1168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2494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311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3113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数据来源是否可靠？如何保证与真实课表一致？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926080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全部数据来源于学校《全校总课表》等真实文件，自动解析建库（1,344 门课、22 学院、595 名教师），筛选逻辑与原课表一致，可随新学期课表定期更新。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201168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37960" y="22494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2311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223113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评价数据安全吗？会不会被篡改？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2926080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工号唯一登录 + 角色权限控制；学院秘书对评价为只读、不可修改删除；数据存于 PostgreSQL，操作可追溯。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041648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2793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2611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261104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评价标准如何统一？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956048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评价表完全复刻学校现行《课程评价表》，20 项定量 + 定性，系统自动计算综合评分，口径一致、结果可比。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4041648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37960" y="42793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2611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261104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能否与现有信息化系统对接？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74536" y="4956048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前后端分离、以工号为唯一标识，预留数据导入与接口能力，可逐步与研究生管理等系统对接。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220724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2207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 答辩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常见问题预演（二）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应用与推广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1168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2494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311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3113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老师上手难不难？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926080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工号即账号、初始密码为工号；多维筛选快速找课，日历视图 + 课前提醒，评价支持保存草稿分次完成，上手成本低。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201168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37960" y="22494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2311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223113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研究生院如何掌握全校督导情况？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2926080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主管数据看板一屏总览（课程数、已完成评价、督导专家数、覆盖学院），并按学院图形化展示评价次数与评分分布。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041648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2793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2611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261104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能否支持 MBA 等其他课程？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956048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可扩展。后续计划导入 MBA 等专业学位课程及对应评价表。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4041648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37960" y="42793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2611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261104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下一步规划是什么？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74536" y="4956048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分管院长角色、PDF/Excel 报表导出、语音评价自动打分、教师评价趋势与同学院对标分析。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2286000"/>
            <a:ext cx="1219169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　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47207" y="370332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E8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023360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DBE7FB"/>
                </a:solidFill>
                <a:latin typeface="Microsoft YaHei"/>
                <a:ea typeface="Microsoft YaHei"/>
                <a:cs typeface="Microsoft YaHei"/>
              </a:rPr>
              <a:t>浙江工商大学研究生院督导系统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66344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FB0E6"/>
                </a:solidFill>
                <a:latin typeface="Microsoft YaHei"/>
                <a:ea typeface="Microsoft YaHei"/>
                <a:cs typeface="Microsoft YaHei"/>
              </a:rPr>
              <a:t>数据驱动 · 流程闭环 · 多角色协同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