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1554480"/>
            <a:ext cx="566928" cy="566928"/>
          </a:xfrm>
          <a:prstGeom prst="roundRect">
            <a:avLst>
              <a:gd name="adj" fmla="val 22000"/>
            </a:avLst>
          </a:prstGeom>
          <a:noFill/>
          <a:ln w="17780">
            <a:solidFill>
              <a:srgbClr val="7FB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591056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AF2FF"/>
                </a:solidFill>
                <a:latin typeface="Microsoft YaHei"/>
                <a:ea typeface="Microsoft YaHei"/>
                <a:cs typeface="Microsoft YaHei"/>
              </a:rPr>
              <a:t>浙江工商大学 · 研究生院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6" y="1975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7E9BCE"/>
                </a:solidFill>
                <a:latin typeface="Microsoft YaHei"/>
                <a:ea typeface="Microsoft YaHei"/>
                <a:cs typeface="Microsoft YaHei"/>
              </a:rPr>
              <a:t>ZHEJIANG GONGSHANG UNIVERSITY · GRADUATE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研究生院督导系统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建设成果汇报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389120"/>
            <a:ext cx="91440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基于全校真实课表数据的研究生教学督导一体化平台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35661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3566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汇报内容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项目背景与目标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痛点与建设愿景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3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系统概览 · 数据底座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真实数据一比一还原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18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8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权限层层递进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六大核心功能详解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逐项展开核心能力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18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8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12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业务闭环与系统架构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看得见、管得住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33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33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成果 · 价值 · 规划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7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小结与展望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010912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29783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18488" y="525780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8488" y="5239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2848" y="5175503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答辩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5541264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常见问题预演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为什么要建这个系统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传统研究生教学督导面临四大痛点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找课难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课程分散在多学院、两校区，含单双周，难快速定位目标课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164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4164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评价散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依赖纸质评价表，填写、收集、归档环节多，结果难沉淀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统计弱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评价数据散落纸面，学院与研究生院缺乏全局视图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164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4164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反馈慢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评价结果传递链路长，难成质量改进闭环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148840"/>
            <a:ext cx="4069080" cy="3346704"/>
          </a:xfrm>
          <a:prstGeom prst="roundRect">
            <a:avLst>
              <a:gd name="adj" fmla="val 6000"/>
            </a:avLst>
          </a:prstGeom>
          <a:solidFill>
            <a:srgbClr val="0E2A56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24688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06324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打造一个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的研究生教学督导一体化平台，把“全校总课表”变成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可检索、可督导、可评价、可统计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的在线平台。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系统概览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一个面向真实业务的督导平台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课程、教师、学院、校区、排课规则全部来源于学校真实数据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91440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系统完全以学校《全校总课表》《角色信息表》《课程评价表》搭建，</a:t>
            </a: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所见即真实业务</a:t>
            </a: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，开箱即用。</a:t>
            </a:r>
          </a:p>
        </p:txBody>
      </p:sp>
      <p:pic>
        <p:nvPicPr>
          <p:cNvPr id="11" name="Picture 10" descr="data-fou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02736"/>
            <a:ext cx="110642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角色与权限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权限层层递进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数据隔离 · 只读保护 · 逐级汇总，贴合研究生院真实管理结构</a:t>
            </a:r>
          </a:p>
        </p:txBody>
      </p:sp>
      <p:pic>
        <p:nvPicPr>
          <p:cNvPr id="8" name="Picture 7" descr="role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4791"/>
            <a:ext cx="10908792" cy="3477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覆盖督导工作全流程，下面逐项展开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按周次/星期/学院/校区/教师组合筛选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待办 + 日历视图，课前自动提醒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94192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20 项定量 + 定性，支持草稿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7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BA873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数据看板与统计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关键指标总览，图形化展示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评价提交后自动通知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1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94192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A2B8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工号唯一凭证，角色权限控制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按多维度精确定位目标课程，与原始课表完全一致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全校 1,431 门课程在线检索，告别翻纸质课表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支持 周次 / 星期 / 学院 / 校区 / 教师 多维组合筛选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筛选逻辑与原课表一致（如“会计学院 + 第 3 周”精确联动）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督导专家可快速锁定“本周哪天、哪个学院、哪位老师”有课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240280"/>
            <a:ext cx="58521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ur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2410157"/>
            <a:ext cx="5522976" cy="30983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56869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全校课程 · 多维筛选（真实界面）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 · 一键加入待办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在课程列表点“听课”即可加入计划，并可指定听课周次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在全校课程列表一键“听课”，加入听课计划（待办）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可指定计划听课周次（或“不指定周次”）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听课计划支持日历视图（节次 × 星期网格）按周查看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待听课 / 已评价 / 已取消 三状态区分，课前自动提醒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240280"/>
            <a:ext cx="58521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en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159" y="2404872"/>
            <a:ext cx="4609280" cy="3108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56869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加入听课计划（真实界面）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标准化课程评价体系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完全复刻学校现行《课程评价表》：20 项定量 + 定性，系统自动计算综合评分</a:t>
            </a:r>
          </a:p>
        </p:txBody>
      </p:sp>
      <p:pic>
        <p:nvPicPr>
          <p:cNvPr id="8" name="Picture 7" descr="eval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8" y="2103120"/>
            <a:ext cx="10065774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真实评价表单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四大维度 + 互斥单选 + 定性文字，完整复刻学校《课程评价表》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3010" y="2112264"/>
            <a:ext cx="2480538" cy="36393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for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026" y="2240280"/>
            <a:ext cx="2224506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5824728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一、教师风范 / 二、学生状态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7894" y="2112264"/>
            <a:ext cx="2049170" cy="36393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alfor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5910" y="2240280"/>
            <a:ext cx="1793138" cy="3383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7919" y="5824728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三、课程内容（含 4.1/4.2 互斥）/ 四、教学过程 / 定性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评价记录与详情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评价详情清晰呈现各维度得分、综合评分与星级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94560"/>
            <a:ext cx="8531352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255" y="2331720"/>
            <a:ext cx="622444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5532120"/>
            <a:ext cx="8531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课程评价记录详情页（真实界面）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工作台 · 数据看板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关键指标一屏总览（待听课/已完成评价/通知/全校课程），评价结果多维可视化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04088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159" y="2331720"/>
            <a:ext cx="5654416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督导工作台 · 数据看板（真实界面）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194560"/>
            <a:ext cx="374903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eval-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195" y="2331720"/>
            <a:ext cx="2984328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557784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课程评价多维度可视化（示例）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学院评价统计分析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按学院展示督导评价次数与评分分布，支撑质量决策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61264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297" y="2286000"/>
            <a:ext cx="514174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2148840"/>
            <a:ext cx="47091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score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881" y="2286000"/>
            <a:ext cx="3706836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※ 上图为示例数据，接入真实评价数据后由系统自动生成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打通“评价完成 → 学院/研究生院知晓”的反馈链路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414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评价提交后自动通知研究生院主管与对应学院教学秘书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912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听课计划课前自动站内提醒，避免漏听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410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通知可点击直达评价详情，反馈即时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908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让质量改进闭环真正跑起来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286000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2286000"/>
            <a:ext cx="9144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39572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督导专家提交评价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7249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完成课程评价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10128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10128"/>
            <a:ext cx="91440" cy="749808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4198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系统自动推送通知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49039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无需人工传递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87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4343400"/>
            <a:ext cx="91440" cy="749808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全局知晓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4343400"/>
            <a:ext cx="91440" cy="749808"/>
          </a:xfrm>
          <a:prstGeom prst="rect">
            <a:avLst/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对应学院教学秘书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本院知晓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工号为唯一凭证 · 初始密码即工号 · 可自助改密 · 角色权限与数据隔离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95527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393" y="2331720"/>
            <a:ext cx="5730349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955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工号登录页（真实界面）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194560"/>
            <a:ext cx="28346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ser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2388454"/>
            <a:ext cx="2505456" cy="29040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5577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个人菜单 · 修改密码 / 退出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业务闭环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督导业务闭环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从找课到改进，串成一条可沉淀、可统计、可追溯的数字化链路</a:t>
            </a:r>
          </a:p>
        </p:txBody>
      </p:sp>
      <p:pic>
        <p:nvPicPr>
          <p:cNvPr id="8" name="Picture 7" descr="busines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5691"/>
            <a:ext cx="10908792" cy="27953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系统架构（简要）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 · 数据驱动 · 真实课表自动解析建库 · 已部署阿里云上线运行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419" y="2103120"/>
            <a:ext cx="7012112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建设成果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建设成果小结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系统已上线，六个维度具备真实可用能力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01952"/>
            <a:ext cx="11064240" cy="603504"/>
          </a:xfrm>
          <a:prstGeom prst="roundRect">
            <a:avLst>
              <a:gd name="adj" fmla="val 10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01952"/>
            <a:ext cx="11064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✅  系统已部署上线运行（阿里云），持续运维迭代 —— 面向真实业务的可用系统，而非演示原型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1,431 门课 · 22 学院 · 2 校区 · 588 教师 · 58 用户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0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角色全覆盖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四类角色权限清晰，数据隔离到位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流程全闭环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找课—听课—评价—统计—反馈一站打通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10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复刻现行评价表，定量+定性，支持草稿与算分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1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质量有保障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全部单元测试通过 · TypeScript 零类型错误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10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多端可用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电脑 / 平板 / 手机响应式适配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开发方式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AI 辅助 + 数据驱动的敏捷开发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让“真实数据 → 可用系统”更快、更贴合一线需求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真实数据自动建库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直接以学校 Excel 课表为输入，自动解析建立业务数据库，省去大量人工录入与结构设计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快速搭建可用系统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四类角色、核心功能、商务蓝界面一次成型，前后端分离、PostgreSQL 稳定选型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39911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真实反馈快速迭代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围绕督导专家与研究生院真实使用反馈多轮打磨，持续修复优化，贴合实际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5303520"/>
            <a:ext cx="8531352" cy="640080"/>
          </a:xfrm>
          <a:prstGeom prst="roundRect">
            <a:avLst>
              <a:gd name="adj" fmla="val 30000"/>
            </a:avLst>
          </a:prstGeom>
          <a:solidFill>
            <a:srgbClr val="FFF7EA"/>
          </a:solidFill>
          <a:ln w="12700">
            <a:solidFill>
              <a:srgbClr val="E8A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5313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57010"/>
                </a:solidFill>
                <a:latin typeface="Microsoft YaHei"/>
                <a:ea typeface="Microsoft YaHei"/>
                <a:cs typeface="Microsoft YaHei"/>
              </a:rPr>
              <a:t>显著压缩了从需求到可用系统的周期，使平台快速进入真实业务可用状态。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应用价值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为不同角色创造价值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一套系统，四方受益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2679192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95044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5044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找课快、评价简、记录全；听课计划与提醒不漏听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5576" y="2286000"/>
            <a:ext cx="2679192" cy="146304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93692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3692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本院督导进度与评价质量一目了然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2286000"/>
            <a:ext cx="2679192" cy="146304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2340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2340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全局数据看板，督导工作有数可依、有据可查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62872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2286000"/>
            <a:ext cx="2679192" cy="146304"/>
          </a:xfrm>
          <a:prstGeom prst="rect">
            <a:avLst/>
          </a:prstGeom>
          <a:solidFill>
            <a:srgbClr val="0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90988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0988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研究生教学质量保障工作的数字化升级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后续规划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让平台持续生长，覆盖更广、用得更深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478024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94560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增加分管院长等角色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54096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33756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05409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课程扩展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导入 MBA 等专业学位课程及评价表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13631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197096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913631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报表导出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913631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一键导出 PDF / Excel 评价报告，便于学期末汇总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73168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5056632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77316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智能增强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773168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探索语音评价自动转写打分，降低填写成本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2704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5916168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63270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分析升级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632704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教师评价趋势、同学院对标分析等高级图表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建设与数据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数据来源是否可靠？如何保证与真实课表一致？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全部数据来源于学校《全校总课表》等真实文件，自动解析建库（1,431 门课、22 学院、588 名教师），筛选逻辑与原课表一致，可随新学期课表定期更新。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评价数据安全吗？会不会被篡改？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工号唯一登录 + 角色权限控制；学院秘书对评价为只读、不可修改删除；数据存于 PostgreSQL，操作可追溯。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评价标准如何统一？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评价表完全复刻学校现行《课程评价表》，20 项定量 + 定性，系统自动计算综合评分，口径一致、结果可比。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能否与现有信息化系统对接？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前后端分离、以工号为唯一标识，预留数据导入与接口能力，可逐步与研究生管理等系统对接。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应用与推广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老师上手难不难？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工号即账号、初始密码为工号；多维筛选快速找课，日历视图 + 课前提醒，评价支持保存草稿分次完成，上手成本低。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研究生院如何掌握全校督导情况？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主管数据看板一屏总览（课程数、已完成评价、督导专家数、覆盖学院），并按学院图形化展示评价次数与评分分布。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能否支持 MBA 等其他课程？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可扩展。后续计划导入 MBA 等专业学位课程及对应评价表。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下一步规划是什么？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分管院长角色、PDF/Excel 报表导出、语音评价自动打分、教师评价趋势与同学院对标分析。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　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47207" y="370332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浙江工商大学研究生院督导系统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